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20aa3ad25a4662" /><Relationship Type="http://schemas.openxmlformats.org/officeDocument/2006/relationships/extended-properties" Target="/docProps/app.xml" Id="R702e721ab7d84e23" /><Relationship Type="http://schemas.openxmlformats.org/officeDocument/2006/relationships/officeDocument" Target="/ppt/presentation.xml" Id="Ra42b32a3cb84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0b434c0b1043f3"/>
  </p:sldMasterIdLst>
  <p:notesMasterIdLst>
    <p:notesMasterId xmlns:r="http://schemas.openxmlformats.org/officeDocument/2006/relationships" r:id="Rcb456b80c89b4a69"/>
  </p:notesMasterIdLst>
  <p:sldIdLst>
    <p:sldId xmlns:r="http://schemas.openxmlformats.org/officeDocument/2006/relationships" id="256" r:id="R8328543c69734081"/>
    <p:sldId xmlns:r="http://schemas.openxmlformats.org/officeDocument/2006/relationships" id="257" r:id="R08f141904378413b"/>
    <p:sldId xmlns:r="http://schemas.openxmlformats.org/officeDocument/2006/relationships" id="258" r:id="R877ce3a3b4164b3b"/>
    <p:sldId xmlns:r="http://schemas.openxmlformats.org/officeDocument/2006/relationships" id="259" r:id="Rb0d37071cdce427b"/>
    <p:sldId xmlns:r="http://schemas.openxmlformats.org/officeDocument/2006/relationships" id="260" r:id="R3543c86460b84efd"/>
    <p:sldId xmlns:r="http://schemas.openxmlformats.org/officeDocument/2006/relationships" id="261" r:id="R918f42b20db14d66"/>
    <p:sldId xmlns:r="http://schemas.openxmlformats.org/officeDocument/2006/relationships" id="262" r:id="Rab1c1c0413e24f1e"/>
    <p:sldId xmlns:r="http://schemas.openxmlformats.org/officeDocument/2006/relationships" id="263" r:id="R991e829d385e4f9c"/>
    <p:sldId xmlns:r="http://schemas.openxmlformats.org/officeDocument/2006/relationships" id="264" r:id="Ra2db1a2e51f04b48"/>
    <p:sldId xmlns:r="http://schemas.openxmlformats.org/officeDocument/2006/relationships" id="265" r:id="R26da1750082e4722"/>
    <p:sldId xmlns:r="http://schemas.openxmlformats.org/officeDocument/2006/relationships" id="266" r:id="R303c5d1a329d4787"/>
    <p:sldId xmlns:r="http://schemas.openxmlformats.org/officeDocument/2006/relationships" id="267" r:id="Rb7c70d86678a4d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91c26ccc4a4511" /><Relationship Type="http://schemas.openxmlformats.org/officeDocument/2006/relationships/slideMaster" Target="/ppt/slideMasters/slideMaster1.xml" Id="R250b434c0b1043f3" /><Relationship Type="http://schemas.openxmlformats.org/officeDocument/2006/relationships/notesMaster" Target="/ppt/notesMasters/notesMaster1.xml" Id="Rcb456b80c89b4a69" /><Relationship Type="http://schemas.openxmlformats.org/officeDocument/2006/relationships/presProps" Target="/ppt/presProps.xml" Id="R6354788b01e643e1" /><Relationship Type="http://schemas.openxmlformats.org/officeDocument/2006/relationships/tableStyles" Target="/ppt/tableStyles.xml" Id="R98174f709fdb4edc" /><Relationship Type="http://schemas.openxmlformats.org/officeDocument/2006/relationships/slide" Target="/ppt/slides/slide1.xml" Id="R8328543c69734081" /><Relationship Type="http://schemas.openxmlformats.org/officeDocument/2006/relationships/slide" Target="/ppt/slides/slide2.xml" Id="R08f141904378413b" /><Relationship Type="http://schemas.openxmlformats.org/officeDocument/2006/relationships/slide" Target="/ppt/slides/slide3.xml" Id="R877ce3a3b4164b3b" /><Relationship Type="http://schemas.openxmlformats.org/officeDocument/2006/relationships/slide" Target="/ppt/slides/slide4.xml" Id="Rb0d37071cdce427b" /><Relationship Type="http://schemas.openxmlformats.org/officeDocument/2006/relationships/slide" Target="/ppt/slides/slide5.xml" Id="R3543c86460b84efd" /><Relationship Type="http://schemas.openxmlformats.org/officeDocument/2006/relationships/slide" Target="/ppt/slides/slide6.xml" Id="R918f42b20db14d66" /><Relationship Type="http://schemas.openxmlformats.org/officeDocument/2006/relationships/slide" Target="/ppt/slides/slide7.xml" Id="Rab1c1c0413e24f1e" /><Relationship Type="http://schemas.openxmlformats.org/officeDocument/2006/relationships/slide" Target="/ppt/slides/slide8.xml" Id="R991e829d385e4f9c" /><Relationship Type="http://schemas.openxmlformats.org/officeDocument/2006/relationships/slide" Target="/ppt/slides/slide9.xml" Id="Ra2db1a2e51f04b48" /><Relationship Type="http://schemas.openxmlformats.org/officeDocument/2006/relationships/slide" Target="/ppt/slides/slide10.xml" Id="R26da1750082e4722" /><Relationship Type="http://schemas.openxmlformats.org/officeDocument/2006/relationships/slide" Target="/ppt/slides/slide11.xml" Id="R303c5d1a329d4787" /><Relationship Type="http://schemas.openxmlformats.org/officeDocument/2006/relationships/slide" Target="/ppt/slides/slide12.xml" Id="Rb7c70d86678a4d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1e99e1230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660745ffa43b7" /><Relationship Type="http://schemas.openxmlformats.org/officeDocument/2006/relationships/notesMaster" Target="/ppt/notesMasters/notesMaster1.xml" Id="Rc29f87ea23b54c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68441edd74374" /><Relationship Type="http://schemas.openxmlformats.org/officeDocument/2006/relationships/notesMaster" Target="/ppt/notesMasters/notesMaster1.xml" Id="Re83a8bbfe9a9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45f8f7205497e" /><Relationship Type="http://schemas.openxmlformats.org/officeDocument/2006/relationships/notesMaster" Target="/ppt/notesMasters/notesMaster1.xml" Id="R4b67de83dfe2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2d544176b4aef" /><Relationship Type="http://schemas.openxmlformats.org/officeDocument/2006/relationships/notesMaster" Target="/ppt/notesMasters/notesMaster1.xml" Id="R15c0b3075f0940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c6f7cf2a34e58" /><Relationship Type="http://schemas.openxmlformats.org/officeDocument/2006/relationships/notesMaster" Target="/ppt/notesMasters/notesMaster1.xml" Id="R1e341ec65b90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562fe1f184873" /><Relationship Type="http://schemas.openxmlformats.org/officeDocument/2006/relationships/notesMaster" Target="/ppt/notesMasters/notesMaster1.xml" Id="R187da108861746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ee881823fd4f50" /><Relationship Type="http://schemas.openxmlformats.org/officeDocument/2006/relationships/notesMaster" Target="/ppt/notesMasters/notesMaster1.xml" Id="R38ddc693e8b9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f77cb4ade492d" /><Relationship Type="http://schemas.openxmlformats.org/officeDocument/2006/relationships/notesMaster" Target="/ppt/notesMasters/notesMaster1.xml" Id="Rba1153abcdc1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c7d13d57fe4f24" /><Relationship Type="http://schemas.openxmlformats.org/officeDocument/2006/relationships/notesMaster" Target="/ppt/notesMasters/notesMaster1.xml" Id="R9a9eefcf4a16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7793c8a8e14b33" /><Relationship Type="http://schemas.openxmlformats.org/officeDocument/2006/relationships/notesMaster" Target="/ppt/notesMasters/notesMaster1.xml" Id="Ra34f1ee18b3d48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396b9e10eb4a97" /><Relationship Type="http://schemas.openxmlformats.org/officeDocument/2006/relationships/notesMaster" Target="/ppt/notesMasters/notesMaster1.xml" Id="Rc47cf531730047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c2a2230a364a98" /><Relationship Type="http://schemas.openxmlformats.org/officeDocument/2006/relationships/notesMaster" Target="/ppt/notesMasters/notesMaster1.xml" Id="R71a7e0aec5ef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Представьте исследовательский проект по предмету «Блокчейн». Полная тема: «Анализ и кластеризация инцидентов утечки данных для оценки применимости блокчейн-технологий в защите информации». Проект объединяет воспроизводимый анализ и исследовательскую оценку архитектур. Блокчейн-сеть не реализована.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Объясните, что проект не прогнозирует размер утечки и не определяет первопричины статистически. Кластеризация помогает описать повторяющиеся сочетания признаков. Оценка блокчейна опирается на свойства технологии и модель доверия, а не на экспериментальное доказательство снижения числа утечек.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Исходные карточки не обязательно соответствуют уникальным реальным событиям. 6911 карточек отвечают критериям основной описательной выборки. 1564 из них не имеют полного покрытия четырёх семейств.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См. prepare_clusters.py и data_clusters/feature_dictionary.csv. Общая матрица содержит 253 бинарных столбца. Полные семейства означают наличие хотя бы одного содержательного значения, а не исчерпывающее описание инцидента.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Расстояние: среднее четырёх расстояний Жаккара по семействам. Совместные нули не повышают сходство. PAM обучается на трёх подвыборках по 1000, остальные карточки назначаются ближайшим медоидам. Общий оценочный набор из 600 не входит в обучающие подвыборки. Это исследовательский выбор k, не независимый тест точности прогнозирования.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results_clusters/k_selection.csv. Выбирается максимальный средний silhouette среди k с ARI &gt;= 0.7 и минимальной долей группы &gt;= 2% на оценочном наборе. Пороги эвристические. Средний silhouette k2=0.339061089, ARI=0.867520526. k3=0.279573530 и 0.953868882.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results_clusters/cluster_summary.csv и feature_profiles.csv. Доли пересекаются и не обязаны давать 100%. Названия кластеров интерпретируют профили. Actor и action участвовали в расстоянии, поэтому подобное разделение ожидаемо.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results_clusters/sensitivity.csv. ARI между основными назначениями и coarse_actions = 0.947289936, without_actor = 0.177840022. Сравнение чувствительности отличается от межвыборочной устойчивости 0.868.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Меры являются направлениями для проектирования и последующего экспериментального тестирования. Данные VCDB и кластеризация не доказывают их эффективность. Перед выбором контроля требуется изучение конкретного механизма инцидента.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NISTIR 8202, Blockchain Technology Overview, https://doi.org/10.6028/NIST.IR.8202. FIPS 186-5, Digital Signature Standard, https://doi.org/10.6028/NIST.FIPS.186-5. Сравнение является архитектурной оценкой. Подпись проверяет целостность и связь с ключом подписанта, но сама не исключает удаление, откат или пропуск записей. Нужны управление ключами, резервирование и контроль последовательности.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NISTIR 8202, https://doi.org/10.6028/NIST.IR.8202. Вывод автора проекта на основе свойств архитектур, а не результатов экспериментального сравнения. Здесь концептуальная оценка, распределённая сеть и смарт-контракт не реализованы. Хеш требует канонического представления данных. Сам хеш не гарантирует конфиденциальность угадываемого содержимого.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VERIS Community Database, vz-risk and contributors, https://github.com/vz-risk/VCDB, CC BY-SA 4.0. Производные результаты: results_clusters/ и README_CLUSTERING.md. Запуск: source("run_project.R", encoding = "UTF-8"). Открывается report.html. Требуется R и пакет cluster. Исходные данные уже входят в проект. Подготовка признаков доступна через python3 prepare_clusters.py. См. также README_CLUSTERING.md. Итоги не доказывают эффективность блокчейна и не обобщаются на все мировые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3c0fa588e846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4c9dcad4ca4948" /><Relationship Type="http://schemas.openxmlformats.org/officeDocument/2006/relationships/slideLayout" Target="/ppt/slideLayouts/slideLayout1.xml" Id="R9a7eda1b9f57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7eda1b9f57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1070224894f69" /><Relationship Type="http://schemas.openxmlformats.org/officeDocument/2006/relationships/notesSlide" Target="/ppt/notesSlides/notesSlide1.xml" Id="R37d16e61365c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1cbd8280e459d" /><Relationship Type="http://schemas.openxmlformats.org/officeDocument/2006/relationships/notesSlide" Target="/ppt/notesSlides/notesSlide2.xml" Id="Rd6277b90437f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a7b98d6e44801" /><Relationship Type="http://schemas.openxmlformats.org/officeDocument/2006/relationships/chart" Target="/ppt/slides/charts/chart1.xml" Id="R6831b9b40bb94d1c" /><Relationship Type="http://schemas.openxmlformats.org/officeDocument/2006/relationships/notesSlide" Target="/ppt/notesSlides/notesSlide3.xml" Id="R99ea3d9e3f334a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272163c546af" /><Relationship Type="http://schemas.openxmlformats.org/officeDocument/2006/relationships/notesSlide" Target="/ppt/notesSlides/notesSlide4.xml" Id="R778fad5f783a4b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cd5c680d458a" /><Relationship Type="http://schemas.openxmlformats.org/officeDocument/2006/relationships/notesSlide" Target="/ppt/notesSlides/notesSlide5.xml" Id="Ra64eac4bae8d40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9f691de474372" /><Relationship Type="http://schemas.openxmlformats.org/officeDocument/2006/relationships/chart" Target="/ppt/slides/charts/chart2.xml" Id="Rdb4bbbdb764e4d78" /><Relationship Type="http://schemas.openxmlformats.org/officeDocument/2006/relationships/notesSlide" Target="/ppt/notesSlides/notesSlide6.xml" Id="R999ef533d2fa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7113ff9974c4e" /><Relationship Type="http://schemas.openxmlformats.org/officeDocument/2006/relationships/notesSlide" Target="/ppt/notesSlides/notesSlide7.xml" Id="R11ce20ae98804b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efbc84f3a4603" /><Relationship Type="http://schemas.openxmlformats.org/officeDocument/2006/relationships/chart" Target="/ppt/slides/charts/chart3.xml" Id="R5731e32079b144d3" /><Relationship Type="http://schemas.openxmlformats.org/officeDocument/2006/relationships/notesSlide" Target="/ppt/notesSlides/notesSlide8.xml" Id="R3e039dbf019b43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5cb3eaa640a1" /><Relationship Type="http://schemas.openxmlformats.org/officeDocument/2006/relationships/notesSlide" Target="/ppt/notesSlides/notesSlide9.xml" Id="R236f79f8bc5e48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aad2af5384082" /><Relationship Type="http://schemas.openxmlformats.org/officeDocument/2006/relationships/notesSlide" Target="/ppt/notesSlides/notesSlide10.xml" Id="Rd140cc86f212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e3dca22b34be8" /><Relationship Type="http://schemas.openxmlformats.org/officeDocument/2006/relationships/notesSlide" Target="/ppt/notesSlides/notesSlide11.xml" Id="R897176d860b54a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6d2c455894270" /><Relationship Type="http://schemas.openxmlformats.org/officeDocument/2006/relationships/notesSlide" Target="/ppt/notesSlides/notesSlide12.xml" Id="R32987378d2c04b3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Карточек</c:v>
          </c:tx>
          <c:spPr>
            <a:solidFill xmlns:a="http://schemas.openxmlformats.org/drawingml/2006/main">
              <a:srgbClr val="147D8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10 047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6 911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5 347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Исходные</c:v>
                </c:pt>
                <c:pt idx="1">
                  <c:v>Основная выборка</c:v>
                </c:pt>
                <c:pt idx="2">
                  <c:v>Для кластеризации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10047</c:v>
                </c:pt>
                <c:pt idx="1">
                  <c:v>6911</c:v>
                </c:pt>
                <c:pt idx="2">
                  <c:v>5347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Средний silhouette</c:v>
          </c:tx>
          <c:spPr>
            <a:solidFill xmlns:a="http://schemas.openxmlformats.org/drawingml/2006/main">
              <a:srgbClr val="147D8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0,339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0,280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0,227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0,232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0,246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0,277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0,279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numCache>
            </c:num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0.339</c:v>
                </c:pt>
                <c:pt idx="1">
                  <c:v>0.28</c:v>
                </c:pt>
                <c:pt idx="2">
                  <c:v>0.227</c:v>
                </c:pt>
                <c:pt idx="3">
                  <c:v>0.232</c:v>
                </c:pt>
                <c:pt idx="4">
                  <c:v>0.246</c:v>
                </c:pt>
                <c:pt idx="5">
                  <c:v>0.277</c:v>
                </c:pt>
                <c:pt idx="6">
                  <c:v>0.279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ARI относительно основного варианта</c:v>
          </c:tx>
          <c:spPr>
            <a:solidFill xmlns:a="http://schemas.openxmlformats.org/drawingml/2006/main">
              <a:srgbClr val="147D8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0,947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>
                        <a:latin typeface="Helvetica Neue"/>
                        <a:ea typeface="Helvetica Neue"/>
                        <a:cs typeface="Helvetica Neue"/>
                      </a:rPr>
                      <a:t>0,178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Упрощение действий</c:v>
                </c:pt>
                <c:pt idx="1">
                  <c:v>Без типа участника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0.947</c:v>
                </c:pt>
                <c:pt idx="1">
                  <c:v>0.178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5D2A4-D41D-4D28-BD46-3672A09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Анализ и кластеризация</a:t>
            </a:r>
          </a:p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инцидентов утечки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28942-0F3F-4823-9273-00866AC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2FD54-8445-4D6F-827D-743887A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Оценка применимости блокчейн-технологий</a:t>
            </a:r>
          </a:p>
          <a:p xmlns:a="http://schemas.openxmlformats.org/drawingml/2006/main">
            <a:pPr>
              <a:defRPr sz="2925" b="0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в защите информации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30AC4-6F7F-4E84-8AC5-E0CC521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Групповой проект по предмету «Блокчейн»</a:t>
            </a:r>
          </a:p>
        </p:txBody>
      </p:sp>
    </p:spTree>
    <p:extLst>
      <p:ext uri="{BB962C8B-B14F-4D97-AF65-F5344CB8AC3E}">
        <p14:creationId xmlns:p14="http://schemas.microsoft.com/office/powerpoint/2010/main" val="1986238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715E6-E75D-414B-B2BC-15636E3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Исследовательский вопрос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9A723-F78D-4F40-9716-1FBB28D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2F7E8-06C5-41D5-B863-533EA86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Какие сценарии инцидентов повторяются</a:t>
            </a:r>
          </a:p>
          <a:p xmlns:a="http://schemas.openxmlformats.org/drawingml/2006/main">
            <a:pPr>
              <a:def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и где блокчейн может решать конкретную задачу?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40A0-4DA5-41EC-BB20-56DEE3F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76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Анализ данных: характеристики и группы похожих карточек.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Оценка решений: меры защиты, целостность записей и аудит.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Результат: воспроизводимый отчёт и обоснованные ограничения.</a:t>
            </a:r>
          </a:p>
        </p:txBody>
      </p:sp>
    </p:spTree>
    <p:extLst>
      <p:ext uri="{BB962C8B-B14F-4D97-AF65-F5344CB8AC3E}">
        <p14:creationId xmlns:p14="http://schemas.microsoft.com/office/powerpoint/2010/main" val="825158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629C4-E0B7-4635-95E5-47936B0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Данные и отбор карточек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83EF6-9221-4E85-8DCF-5F27150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31b9b40bb94d1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68FB-339D-401D-972C-788B8BA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57375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Одна строка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соответствует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карточке инцидента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155A3-11A2-4735-9CB6-7B8D43A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253 бинарных признака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Публичные описания</a:t>
            </a:r>
          </a:p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без базы персональных</a:t>
            </a:r>
          </a:p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данных пострадавших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9F2D-558C-498E-AED0-D9A31D0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Источник: VCDB. Отбор создаёт смещение полноты описаний.</a:t>
            </a:r>
          </a:p>
        </p:txBody>
      </p:sp>
    </p:spTree>
    <p:extLst>
      <p:ext uri="{BB962C8B-B14F-4D97-AF65-F5344CB8AC3E}">
        <p14:creationId xmlns:p14="http://schemas.microsoft.com/office/powerpoint/2010/main" val="604061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08E09-CF9A-4FCE-B163-0F9953A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Пропуски и признаки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22F3E-BE25-4219-8914-85D34ED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7019925"/>
                <a:gridCol w="171450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Семейство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Содержимое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Действия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Категории, разновидности и векторы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Участники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Внешние, внутренние, партнёры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Активы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Виды затронутых систем и носителей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Категории раскрытой информации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2C684-C5C4-4EDF-816E-EBC1829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1 = категория записана. 0 = категория не записана.</a:t>
            </a:r>
          </a:p>
          <a:p xmlns:a="http://schemas.openxmlformats.org/drawingml/2006/main">
            <a:pPr>
              <a:def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Unknown и null не становятся отдельными признаками сходства.</a:t>
            </a:r>
          </a:p>
        </p:txBody>
      </p:sp>
    </p:spTree>
    <p:extLst>
      <p:ext uri="{BB962C8B-B14F-4D97-AF65-F5344CB8AC3E}">
        <p14:creationId xmlns:p14="http://schemas.microsoft.com/office/powerpoint/2010/main" val="22765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F84C2-61AD-44D3-A6F4-F848EB8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Метод кластеризации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B52F-84F8-4C21-8C5C-68372FF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D398-AE34-4A6A-9863-9E664115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Расстояние Жаккара по четырём семействам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688FC-F338-41D3-9CB1-9160838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PAM: представители групп являются реальными карточками.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Три обучающие подвыборки по 1 000 карточек.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Общий оценочный набор: 600 карточек.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Сравнение числа групп k от 2 до 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D28B-879B-4DC1-A3E8-C17CB3F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Число записей, отрасль, страна и год не входят в расстояние.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215436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340AE-744D-4D6F-8B70-3252A43A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Выбор двух групп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F5C4B-0E4B-4115-BDCE-47DD36D5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4bbbdb764e4d7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4C35A-6FA0-4F44-B159-3EF233E9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Silhouette 0,339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умеренное разделение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FA5DC-FD94-4406-918F-FDACE8F7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ARI 0,868</a:t>
            </a:r>
          </a:p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согласованность</a:t>
            </a:r>
          </a:p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между запусками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84680-6882-447F-965E-E5600233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Ось X: число групп. Выбор учитывает устойчивость и размер групп.</a:t>
            </a:r>
          </a:p>
        </p:txBody>
      </p:sp>
    </p:spTree>
    <p:extLst>
      <p:ext uri="{BB962C8B-B14F-4D97-AF65-F5344CB8AC3E}">
        <p14:creationId xmlns:p14="http://schemas.microsoft.com/office/powerpoint/2010/main" val="10615893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60AF-6E2D-4228-8F8B-12661C3F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Профили полученных групп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5369-242E-43A0-91B6-F926D472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838575"/>
                <a:gridCol w="3848100"/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Характеристика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Группа 1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Группа 2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Карточек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2 478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2 869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Преобладающий участник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Внутренний: 93,9%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Внешний: 98,5%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Частые действия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Ошибка: 53,8%</a:t>
                      </a:r>
                    </a:p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Злоупотребление: 44,3%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Взлом: 76,3%</a:t>
                      </a:r>
                    </a:p>
                    <a:p>
                      <a:r>
                        <a:rPr sz="187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Вредоносное ПО: 40,9%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EBDA2-C2A0-4656-A8C8-649C263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Группы описывают зарегистрированные сценарии.</a:t>
            </a:r>
          </a:p>
          <a:p xmlns:a="http://schemas.openxmlformats.org/drawingml/2006/main">
            <a:pPr>
              <a:def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Кластеризация не устанавливает причины инцидентов.</a:t>
            </a:r>
          </a:p>
        </p:txBody>
      </p:sp>
    </p:spTree>
    <p:extLst>
      <p:ext uri="{BB962C8B-B14F-4D97-AF65-F5344CB8AC3E}">
        <p14:creationId xmlns:p14="http://schemas.microsoft.com/office/powerpoint/2010/main" val="252531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9AABF-1272-4166-B37C-00FB2A9A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Зависимость результата от признаков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21063-0D77-45C5-82F2-599ABD8E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31e32079b144d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54AE3-3E25-4B35-BCA2-8B0738C3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Без actor</a:t>
            </a:r>
          </a:p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разделение сильно</a:t>
            </a:r>
          </a:p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меняется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16D8B-4EA3-4E5F-9E03-C6E435E1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Две группы нельзя</a:t>
            </a:r>
          </a:p>
          <a:p xmlns:a="http://schemas.openxmlformats.org/drawingml/2006/main">
            <a:pPr>
              <a:def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считать универсальной</a:t>
            </a:r>
          </a:p>
          <a:p xmlns:a="http://schemas.openxmlformats.org/drawingml/2006/main">
            <a:pPr>
              <a:def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типологией утечек.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00439-9851-4770-AA90-2C3E74D1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ARI показывает сходство назначений относительно основного варианта.</a:t>
            </a:r>
          </a:p>
        </p:txBody>
      </p:sp>
    </p:spTree>
    <p:extLst>
      <p:ext uri="{BB962C8B-B14F-4D97-AF65-F5344CB8AC3E}">
        <p14:creationId xmlns:p14="http://schemas.microsoft.com/office/powerpoint/2010/main" val="1664807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2BE18-6113-4316-915F-B18485D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Меры защиты по сценариям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14297-949B-4F79-A3FE-62BBD6D3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4191000"/>
                <a:gridCol w="3876675"/>
              </a:tblGrid>
              <a:tr h="1222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Сценарии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Предлагаемые меры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проверить на стенде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1222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Внутренние ошибки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 злоупотребления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Минимальные права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 выгрузок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 получателя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Ошибочные отправки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Ложные блокировки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Полнота журнала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222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Внешние атаки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Защита учётных записей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Устранение уязвимостей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Сегментация и мониторинг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Время обнаружения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Сдерживание имитации</a:t>
                      </a:r>
                    </a:p>
                    <a:p>
                      <a:r>
                        <a:rPr sz="1800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Доступность сервиса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37157-653E-4640-A61A-F1AD5136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Эффективность этих мер в проекте не измеряли.</a:t>
            </a:r>
          </a:p>
        </p:txBody>
      </p:sp>
    </p:spTree>
    <p:extLst>
      <p:ext uri="{BB962C8B-B14F-4D97-AF65-F5344CB8AC3E}">
        <p14:creationId xmlns:p14="http://schemas.microsoft.com/office/powerpoint/2010/main" val="964805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04CCD-9862-4385-B0D7-FD4183DD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Сравнение способов ведения записей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530C9-C6F5-4285-9EB8-C12C969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24375"/>
                <a:gridCol w="416242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Основная задача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Обычная БД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Хранение, поиск, права доступа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Доверие администратору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Журнал аудита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История действий и изменений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Защита от удаления и отката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Цифровая подпись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Целостность и проверка подписанта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Защита ключей и полнота истории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Блокчейн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Общий реестр независимых участников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Консенсус, управление и стоимость</a:t>
                      </a:r>
                    </a:p>
                  </a:txBody>
                  <a:tcPr marL="91440" marR="91440" marT="45720" marB="45720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C627C-233B-4A27-8887-CAF8056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Блокчейн не подтверждает правдивость исходной карточки.</a:t>
            </a:r>
          </a:p>
        </p:txBody>
      </p:sp>
    </p:spTree>
    <p:extLst>
      <p:ext uri="{BB962C8B-B14F-4D97-AF65-F5344CB8AC3E}">
        <p14:creationId xmlns:p14="http://schemas.microsoft.com/office/powerpoint/2010/main" val="1992306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99021-40BF-44B0-B754-4BAEA2D9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Условия применимости блокчейна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CC9B-35C9-4251-B0B9-077C208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4B790-C8D8-4D92-8196-CFB523B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Один оператор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70896-B00C-426F-85E1-013C491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База данных и защищённый</a:t>
            </a:r>
          </a:p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подписанный журнал обычно проще</a:t>
            </a:r>
          </a:p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для хранения и проверки истории.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71E80-02F6-4BC9-BF05-B873415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Несколько независимых участников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8B9A3-0ABF-418D-AF29-943A96F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095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Общий аудит может обосновать</a:t>
            </a:r>
          </a:p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распределённый реестр при явных</a:t>
            </a:r>
          </a:p>
          <a:p xmlns:a="http://schemas.openxmlformats.org/drawingml/2006/main">
            <a:pPr>
              <a:def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правилах доступа и управления.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BD036-22D4-4C79-98FE-FF161038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Концепция: карточки вне реестра, в реестре хеши версий.</a:t>
            </a:r>
          </a:p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Персональные данные пострадавших в реестр не помещаются.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073F1-A302-401B-96C0-9FBE890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Исследовательская оценка. Блокчейн-сеть в проекте не реализована.</a:t>
            </a:r>
          </a:p>
        </p:txBody>
      </p:sp>
    </p:spTree>
    <p:extLst>
      <p:ext uri="{BB962C8B-B14F-4D97-AF65-F5344CB8AC3E}">
        <p14:creationId xmlns:p14="http://schemas.microsoft.com/office/powerpoint/2010/main" val="2094496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53D31-9BD7-4C70-AF6E-E88FBC0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Итоги и воспроизводимость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31956-9C9B-4C12-9CA8-523FD18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14347-7B39-466A-8267-35E97B3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Получены две описательные группы с сильной зависимостью</a:t>
            </a:r>
          </a:p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от типа участника. Блокчейн требует отдельного обоснования</a:t>
            </a:r>
          </a:p>
          <a:p xmlns:a="http://schemas.openxmlformats.org/drawingml/2006/main">
            <a:pPr>
              <a:def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через модель доверия и задачу общего аудита.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29F41-B502-4D8C-9FDF-C00B1DE1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Запуск в RStudio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48825-E257-42FC-952C-81E9B2C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source("run_project.R", encoding = "UTF-8")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77BB9-785E-4842-B725-63411F63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Ограничения: неполные публичные описания, смещение отбора,</a:t>
            </a:r>
          </a:p>
          <a:p xmlns:a="http://schemas.openxmlformats.org/drawingml/2006/main">
            <a:pPr>
              <a:def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5"/>
                </a:solidFill>
                <a:latin typeface="Helvetica Neue"/>
                <a:ea typeface="Helvetica Neue"/>
                <a:cs typeface="Helvetica Neue"/>
              </a:rPr>
              <a:t>отсутствие причинных выводов и оценки эффективности защиты.</a:t>
            </a:r>
          </a:p>
        </p:txBody>
      </p:sp>
    </p:spTree>
    <p:extLst>
      <p:ext uri="{BB962C8B-B14F-4D97-AF65-F5344CB8AC3E}">
        <p14:creationId xmlns:p14="http://schemas.microsoft.com/office/powerpoint/2010/main" val="1185249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2026-10-06T10:13:11.2610000Z</dcterms:created>
  <dcterms:modified xsi:type="dcterms:W3CDTF">2026-10-06T10:13:11.2610000Z</dcterms:modified>
</coreProperties>
</file>